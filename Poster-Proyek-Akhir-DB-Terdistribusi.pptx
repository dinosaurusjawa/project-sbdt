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5999928" cy="25191720"/>
  <p:notesSz cx="25191720" cy="3599992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999928" cy="5029200"/>
          </a:xfrm>
          <a:prstGeom prst="rect">
            <a:avLst/>
          </a:prstGeom>
          <a:solidFill>
            <a:srgbClr val="234D24"/>
          </a:solidFill>
          <a:ln/>
        </p:spPr>
      </p:sp>
      <p:sp>
        <p:nvSpPr>
          <p:cNvPr id="3" name="Shape 1"/>
          <p:cNvSpPr/>
          <p:nvPr/>
        </p:nvSpPr>
        <p:spPr>
          <a:xfrm>
            <a:off x="30540960" y="-2377440"/>
            <a:ext cx="7772400" cy="7772400"/>
          </a:xfrm>
          <a:prstGeom prst="ellipse">
            <a:avLst/>
          </a:prstGeom>
          <a:solidFill>
            <a:srgbClr val="7AA05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614880" y="2194560"/>
            <a:ext cx="4206240" cy="4206240"/>
          </a:xfrm>
          <a:prstGeom prst="ellipse">
            <a:avLst/>
          </a:prstGeom>
          <a:solidFill>
            <a:srgbClr val="7AA050">
              <a:alpha val="2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3703320" cy="393192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pic>
        <p:nvPicPr>
          <p:cNvPr id="6" name="Image 0" descr="/tmp/ue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49808"/>
            <a:ext cx="3246120" cy="32644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384048"/>
            <a:ext cx="3072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BANGUN SISTEM BASIS DATA TERDISTRIBUSI PADA APOTEK MULTI-CABANG MENGGUNAKAN POSTGRESQL</a:t>
            </a:r>
            <a:endParaRPr lang="en-US" sz="5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100" i="1" dirty="0">
                <a:solidFill>
                  <a:srgbClr val="B9D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Fragmentasi Horizontal, Replikasi Logis, dan Distributed Query</a:t>
            </a:r>
            <a:endParaRPr lang="en-US" sz="5300" dirty="0"/>
          </a:p>
        </p:txBody>
      </p:sp>
      <p:sp>
        <p:nvSpPr>
          <p:cNvPr id="8" name="Text 5"/>
          <p:cNvSpPr/>
          <p:nvPr/>
        </p:nvSpPr>
        <p:spPr>
          <a:xfrm>
            <a:off x="4754880" y="3246120"/>
            <a:ext cx="1965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Mikael Marcellino Kevin Ravidion P</a:t>
            </a:r>
            <a:pPr algn="l" indent="0" marL="0">
              <a:buNone/>
            </a:pPr>
            <a:r>
              <a:rPr lang="en-US" sz="2900" dirty="0">
                <a:solidFill>
                  <a:srgbClr val="B9D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—    NIM 20230801509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754880" y="4023360"/>
            <a:ext cx="1965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B9D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Studi Sistem Informasi  •  Fakultas Ilmu Komputer  •  Universitas Esa Unggul  •  2026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24871680" y="3291840"/>
            <a:ext cx="10515600" cy="1325880"/>
          </a:xfrm>
          <a:prstGeom prst="roundRect">
            <a:avLst>
              <a:gd name="adj" fmla="val 10345"/>
            </a:avLst>
          </a:prstGeom>
          <a:solidFill>
            <a:srgbClr val="2E5A2F"/>
          </a:solidFill>
          <a:ln/>
        </p:spPr>
      </p:sp>
      <p:sp>
        <p:nvSpPr>
          <p:cNvPr id="11" name="Text 8"/>
          <p:cNvSpPr/>
          <p:nvPr/>
        </p:nvSpPr>
        <p:spPr>
          <a:xfrm>
            <a:off x="25191720" y="329184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B9D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Dosen Pembimbing</a:t>
            </a:r>
            <a:endParaRPr lang="en-US" sz="1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Jefry Sunupurwa Asri, S.Kom., M.Kom.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40080" y="5349240"/>
            <a:ext cx="9692640" cy="5806440"/>
          </a:xfrm>
          <a:prstGeom prst="roundRect">
            <a:avLst>
              <a:gd name="adj" fmla="val 2835"/>
            </a:avLst>
          </a:prstGeom>
          <a:solidFill>
            <a:srgbClr val="FFFFFF"/>
          </a:solidFill>
          <a:ln w="19050">
            <a:solidFill>
              <a:srgbClr val="D7E4CE"/>
            </a:solidFill>
            <a:prstDash val="solid"/>
          </a:ln>
          <a:effectLst>
            <a:outerShdw sx="100000" sy="100000" kx="0" ky="0" algn="bl" rotWithShape="0" blurRad="127000" dist="38100" dir="5400000">
              <a:srgbClr val="3A4A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05840" y="5669280"/>
            <a:ext cx="8961120" cy="822960"/>
          </a:xfrm>
          <a:prstGeom prst="roundRect">
            <a:avLst>
              <a:gd name="adj" fmla="val 13333"/>
            </a:avLst>
          </a:prstGeom>
          <a:solidFill>
            <a:srgbClr val="E9F2E1"/>
          </a:solidFill>
          <a:ln/>
        </p:spPr>
      </p:sp>
      <p:sp>
        <p:nvSpPr>
          <p:cNvPr id="14" name="Text 11"/>
          <p:cNvSpPr/>
          <p:nvPr/>
        </p:nvSpPr>
        <p:spPr>
          <a:xfrm>
            <a:off x="1325880" y="56692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PENDAHULUAN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1051560" y="6720840"/>
            <a:ext cx="8869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Apotek multi-cabang dengan basis data terpusat: seluruh transaksi bergantung pada satu server — gangguan jaringan menghentikan pelayanan semua cabang (Pramadhitya dkk., 2016).</a:t>
            </a:r>
            <a:endParaRPr lang="en-US" sz="2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data terdistribusi (Özsu &amp; Valduriez, 2020) menjawabnya lewat </a:t>
            </a:r>
            <a:pPr algn="l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fragmentasi</a:t>
            </a:r>
            <a:pPr algn="l"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(data disimpan di lokasi pemakainya) dan </a:t>
            </a:r>
            <a:pPr algn="l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replikasi</a:t>
            </a:r>
            <a:pPr algn="l" indent="0" marL="0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(salinan data master demi ketersediaan).</a:t>
            </a:r>
            <a:endParaRPr lang="en-US" sz="2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ini membangun purwarupa 3 node + distributed query, uji konkurensi, dan uji toleransi gangguan — aspek yang jarang dicakup penelitian sejenis.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" y="11430000"/>
            <a:ext cx="9692640" cy="3977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D7E4CE"/>
            </a:solidFill>
            <a:prstDash val="solid"/>
          </a:ln>
          <a:effectLst>
            <a:outerShdw sx="100000" sy="100000" kx="0" ky="0" algn="bl" rotWithShape="0" blurRad="127000" dist="38100" dir="5400000">
              <a:srgbClr val="3A4A3A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005840" y="11750040"/>
            <a:ext cx="8961120" cy="822960"/>
          </a:xfrm>
          <a:prstGeom prst="roundRect">
            <a:avLst>
              <a:gd name="adj" fmla="val 13333"/>
            </a:avLst>
          </a:prstGeom>
          <a:solidFill>
            <a:srgbClr val="E9F2E1"/>
          </a:solidFill>
          <a:ln/>
        </p:spPr>
      </p:sp>
      <p:sp>
        <p:nvSpPr>
          <p:cNvPr id="18" name="Text 15"/>
          <p:cNvSpPr/>
          <p:nvPr/>
        </p:nvSpPr>
        <p:spPr>
          <a:xfrm>
            <a:off x="1325880" y="117500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1051560" y="12527280"/>
            <a:ext cx="640080" cy="640080"/>
          </a:xfrm>
          <a:prstGeom prst="ellipse">
            <a:avLst/>
          </a:prstGeom>
          <a:solidFill>
            <a:srgbClr val="234D24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1252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920240" y="123901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merancang skema fragmentasi &amp; replikasi multi-cabang?</a:t>
            </a:r>
            <a:endParaRPr lang="en-US" sz="1850" dirty="0"/>
          </a:p>
        </p:txBody>
      </p:sp>
      <p:sp>
        <p:nvSpPr>
          <p:cNvPr id="22" name="Shape 19"/>
          <p:cNvSpPr/>
          <p:nvPr/>
        </p:nvSpPr>
        <p:spPr>
          <a:xfrm>
            <a:off x="1051560" y="13441680"/>
            <a:ext cx="640080" cy="640080"/>
          </a:xfrm>
          <a:prstGeom prst="ellipse">
            <a:avLst/>
          </a:prstGeom>
          <a:solidFill>
            <a:srgbClr val="234D24"/>
          </a:solidFill>
          <a:ln/>
        </p:spPr>
      </p:sp>
      <p:sp>
        <p:nvSpPr>
          <p:cNvPr id="23" name="Text 20"/>
          <p:cNvSpPr/>
          <p:nvPr/>
        </p:nvSpPr>
        <p:spPr>
          <a:xfrm>
            <a:off x="1051560" y="1344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920240" y="133045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implementasi replikasi logis &amp; distributed query antar node?</a:t>
            </a:r>
            <a:endParaRPr lang="en-US" sz="1850" dirty="0"/>
          </a:p>
        </p:txBody>
      </p:sp>
      <p:sp>
        <p:nvSpPr>
          <p:cNvPr id="25" name="Shape 22"/>
          <p:cNvSpPr/>
          <p:nvPr/>
        </p:nvSpPr>
        <p:spPr>
          <a:xfrm>
            <a:off x="1051560" y="14356080"/>
            <a:ext cx="640080" cy="640080"/>
          </a:xfrm>
          <a:prstGeom prst="ellipse">
            <a:avLst/>
          </a:prstGeom>
          <a:solidFill>
            <a:srgbClr val="234D24"/>
          </a:solidFill>
          <a:ln/>
        </p:spPr>
      </p:sp>
      <p:sp>
        <p:nvSpPr>
          <p:cNvPr id="26" name="Text 23"/>
          <p:cNvSpPr/>
          <p:nvPr/>
        </p:nvSpPr>
        <p:spPr>
          <a:xfrm>
            <a:off x="1051560" y="1435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1920240" y="142189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menjaga konsistensi saat konkuren &amp; saat node gagal?</a:t>
            </a:r>
            <a:endParaRPr lang="en-US" sz="1850" dirty="0"/>
          </a:p>
        </p:txBody>
      </p:sp>
      <p:sp>
        <p:nvSpPr>
          <p:cNvPr id="28" name="Shape 25"/>
          <p:cNvSpPr/>
          <p:nvPr/>
        </p:nvSpPr>
        <p:spPr>
          <a:xfrm>
            <a:off x="640080" y="15681960"/>
            <a:ext cx="9692640" cy="37490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9050">
            <a:solidFill>
              <a:srgbClr val="D7E4CE"/>
            </a:solidFill>
            <a:prstDash val="solid"/>
          </a:ln>
          <a:effectLst>
            <a:outerShdw sx="100000" sy="100000" kx="0" ky="0" algn="bl" rotWithShape="0" blurRad="127000" dist="38100" dir="5400000">
              <a:srgbClr val="3A4A3A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005840" y="16002000"/>
            <a:ext cx="8961120" cy="822960"/>
          </a:xfrm>
          <a:prstGeom prst="roundRect">
            <a:avLst>
              <a:gd name="adj" fmla="val 13333"/>
            </a:avLst>
          </a:prstGeom>
          <a:solidFill>
            <a:srgbClr val="E9F2E1"/>
          </a:solidFill>
          <a:ln/>
        </p:spPr>
      </p:sp>
      <p:sp>
        <p:nvSpPr>
          <p:cNvPr id="30" name="Text 27"/>
          <p:cNvSpPr/>
          <p:nvPr/>
        </p:nvSpPr>
        <p:spPr>
          <a:xfrm>
            <a:off x="1325880" y="160020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1051560" y="16824960"/>
            <a:ext cx="8869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▸"/>
            </a:pPr>
            <a:r>
              <a:rPr lang="en-US" sz="19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Merancang skema fragmentasi horizontal &amp; replikasi.</a:t>
            </a:r>
            <a:endParaRPr lang="en-US" sz="1950" dirty="0"/>
          </a:p>
          <a:p>
            <a:pPr algn="l"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▸"/>
            </a:pPr>
            <a:r>
              <a:rPr lang="en-US" sz="19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replikasi logis publisher–subscriber antar node.</a:t>
            </a:r>
            <a:endParaRPr lang="en-US" sz="1950" dirty="0"/>
          </a:p>
          <a:p>
            <a:pPr algn="l"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▸"/>
            </a:pPr>
            <a:r>
              <a:rPr lang="en-US" sz="19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konsolidasi lintas node dalam satu kueri (postgres_fdw).</a:t>
            </a:r>
            <a:endParaRPr lang="en-US" sz="1950" dirty="0"/>
          </a:p>
          <a:p>
            <a:pPr algn="l"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▸"/>
            </a:pPr>
            <a:r>
              <a:rPr lang="en-US" sz="19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Menguji konsistensi konkuren &amp; perilaku saat node gagal.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640080" y="19705320"/>
            <a:ext cx="9692640" cy="3977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D7E4CE"/>
            </a:solidFill>
            <a:prstDash val="solid"/>
          </a:ln>
          <a:effectLst>
            <a:outerShdw sx="100000" sy="100000" kx="0" ky="0" algn="bl" rotWithShape="0" blurRad="127000" dist="38100" dir="5400000">
              <a:srgbClr val="3A4A3A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1005840" y="20025360"/>
            <a:ext cx="8961120" cy="822960"/>
          </a:xfrm>
          <a:prstGeom prst="roundRect">
            <a:avLst>
              <a:gd name="adj" fmla="val 13333"/>
            </a:avLst>
          </a:prstGeom>
          <a:solidFill>
            <a:srgbClr val="E9F2E1"/>
          </a:solidFill>
          <a:ln/>
        </p:spPr>
      </p:sp>
      <p:sp>
        <p:nvSpPr>
          <p:cNvPr id="34" name="Text 31"/>
          <p:cNvSpPr/>
          <p:nvPr/>
        </p:nvSpPr>
        <p:spPr>
          <a:xfrm>
            <a:off x="1325880" y="200253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</a:t>
            </a:r>
            <a:endParaRPr lang="en-US" sz="3000" dirty="0"/>
          </a:p>
        </p:txBody>
      </p:sp>
      <p:sp>
        <p:nvSpPr>
          <p:cNvPr id="35" name="Shape 32"/>
          <p:cNvSpPr/>
          <p:nvPr/>
        </p:nvSpPr>
        <p:spPr>
          <a:xfrm>
            <a:off x="1051560" y="20802600"/>
            <a:ext cx="640080" cy="640080"/>
          </a:xfrm>
          <a:prstGeom prst="ellipse">
            <a:avLst/>
          </a:prstGeom>
          <a:solidFill>
            <a:srgbClr val="234D24"/>
          </a:solidFill>
          <a:ln/>
        </p:spPr>
      </p:sp>
      <p:sp>
        <p:nvSpPr>
          <p:cNvPr id="36" name="Text 33"/>
          <p:cNvSpPr/>
          <p:nvPr/>
        </p:nvSpPr>
        <p:spPr>
          <a:xfrm>
            <a:off x="1051560" y="20802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1920240" y="20665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Perancangan — 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skema, alokasi fragmen/replika, PK komposit.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051560" y="21717000"/>
            <a:ext cx="640080" cy="640080"/>
          </a:xfrm>
          <a:prstGeom prst="ellipse">
            <a:avLst/>
          </a:prstGeom>
          <a:solidFill>
            <a:srgbClr val="234D24"/>
          </a:solidFill>
          <a:ln/>
        </p:spPr>
      </p:sp>
      <p:sp>
        <p:nvSpPr>
          <p:cNvPr id="39" name="Text 36"/>
          <p:cNvSpPr/>
          <p:nvPr/>
        </p:nvSpPr>
        <p:spPr>
          <a:xfrm>
            <a:off x="1051560" y="21717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40" name="Text 37"/>
          <p:cNvSpPr/>
          <p:nvPr/>
        </p:nvSpPr>
        <p:spPr>
          <a:xfrm>
            <a:off x="1920240" y="215798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— 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16, 3 container Docker, dashboard web.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051560" y="22631400"/>
            <a:ext cx="640080" cy="640080"/>
          </a:xfrm>
          <a:prstGeom prst="ellipse">
            <a:avLst/>
          </a:prstGeom>
          <a:solidFill>
            <a:srgbClr val="C47C1A"/>
          </a:solidFill>
          <a:ln/>
        </p:spPr>
      </p:sp>
      <p:sp>
        <p:nvSpPr>
          <p:cNvPr id="42" name="Text 39"/>
          <p:cNvSpPr/>
          <p:nvPr/>
        </p:nvSpPr>
        <p:spPr>
          <a:xfrm>
            <a:off x="1051560" y="22631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43" name="Text 40"/>
          <p:cNvSpPr/>
          <p:nvPr/>
        </p:nvSpPr>
        <p:spPr>
          <a:xfrm>
            <a:off x="1920240" y="224942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 — 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skenario: replikasi, FDW, konkurensi, gangguan.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0698480" y="5349240"/>
            <a:ext cx="12664440" cy="969264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 w="19050">
            <a:solidFill>
              <a:srgbClr val="D7E4CE"/>
            </a:solidFill>
            <a:prstDash val="solid"/>
          </a:ln>
          <a:effectLst>
            <a:outerShdw sx="100000" sy="100000" kx="0" ky="0" algn="bl" rotWithShape="0" blurRad="127000" dist="38100" dir="5400000">
              <a:srgbClr val="3A4A3A">
                <a:alpha val="1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11064240" y="5669280"/>
            <a:ext cx="11932920" cy="822960"/>
          </a:xfrm>
          <a:prstGeom prst="roundRect">
            <a:avLst>
              <a:gd name="adj" fmla="val 13333"/>
            </a:avLst>
          </a:prstGeom>
          <a:solidFill>
            <a:srgbClr val="E9F2E1"/>
          </a:solidFill>
          <a:ln/>
        </p:spPr>
      </p:sp>
      <p:sp>
        <p:nvSpPr>
          <p:cNvPr id="46" name="Text 43"/>
          <p:cNvSpPr/>
          <p:nvPr/>
        </p:nvSpPr>
        <p:spPr>
          <a:xfrm>
            <a:off x="11384280" y="5669280"/>
            <a:ext cx="11292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3000" dirty="0"/>
          </a:p>
        </p:txBody>
      </p:sp>
      <p:pic>
        <p:nvPicPr>
          <p:cNvPr id="47" name="Image 1" descr="/tmp/diagram_v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6446520"/>
            <a:ext cx="11658600" cy="8321040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10698480" y="15316200"/>
            <a:ext cx="4096512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38100">
            <a:solidFill>
              <a:srgbClr val="234D24"/>
            </a:solidFill>
            <a:prstDash val="solid"/>
          </a:ln>
          <a:effectLst>
            <a:outerShdw sx="100000" sy="100000" kx="0" ky="0" algn="bl" rotWithShape="0" blurRad="101600" dist="38100" dir="5400000">
              <a:srgbClr val="3A4A3A">
                <a:alpha val="15000"/>
              </a:srgbClr>
            </a:outerShdw>
          </a:effectLst>
        </p:spPr>
      </p:sp>
      <p:sp>
        <p:nvSpPr>
          <p:cNvPr id="49" name="Text 45"/>
          <p:cNvSpPr/>
          <p:nvPr/>
        </p:nvSpPr>
        <p:spPr>
          <a:xfrm>
            <a:off x="10698480" y="15453360"/>
            <a:ext cx="4096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dtk</a:t>
            </a:r>
            <a:endParaRPr lang="en-US" sz="5200" dirty="0"/>
          </a:p>
        </p:txBody>
      </p:sp>
      <p:sp>
        <p:nvSpPr>
          <p:cNvPr id="50" name="Text 46"/>
          <p:cNvSpPr/>
          <p:nvPr/>
        </p:nvSpPr>
        <p:spPr>
          <a:xfrm>
            <a:off x="10698480" y="16733520"/>
            <a:ext cx="4096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replikasi master</a:t>
            </a:r>
            <a:endParaRPr lang="en-US" sz="17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pusat → cabang</a:t>
            </a:r>
            <a:endParaRPr lang="en-US" sz="1700" dirty="0"/>
          </a:p>
        </p:txBody>
      </p:sp>
      <p:sp>
        <p:nvSpPr>
          <p:cNvPr id="51" name="Shape 47"/>
          <p:cNvSpPr/>
          <p:nvPr/>
        </p:nvSpPr>
        <p:spPr>
          <a:xfrm>
            <a:off x="14977872" y="15316200"/>
            <a:ext cx="4096512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38100">
            <a:solidFill>
              <a:srgbClr val="234D24"/>
            </a:solidFill>
            <a:prstDash val="solid"/>
          </a:ln>
          <a:effectLst>
            <a:outerShdw sx="100000" sy="100000" kx="0" ky="0" algn="bl" rotWithShape="0" blurRad="101600" dist="38100" dir="5400000">
              <a:srgbClr val="3A4A3A">
                <a:alpha val="15000"/>
              </a:srgbClr>
            </a:outerShdw>
          </a:effectLst>
        </p:spPr>
      </p:sp>
      <p:sp>
        <p:nvSpPr>
          <p:cNvPr id="52" name="Text 48"/>
          <p:cNvSpPr/>
          <p:nvPr/>
        </p:nvSpPr>
        <p:spPr>
          <a:xfrm>
            <a:off x="14977872" y="15453360"/>
            <a:ext cx="4096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5200" dirty="0"/>
          </a:p>
        </p:txBody>
      </p:sp>
      <p:sp>
        <p:nvSpPr>
          <p:cNvPr id="53" name="Text 49"/>
          <p:cNvSpPr/>
          <p:nvPr/>
        </p:nvSpPr>
        <p:spPr>
          <a:xfrm>
            <a:off x="14977872" y="16733520"/>
            <a:ext cx="4096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 uji lulus</a:t>
            </a:r>
            <a:endParaRPr lang="en-US" sz="17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fungsional &amp; gangguan</a:t>
            </a:r>
            <a:endParaRPr lang="en-US" sz="1700" dirty="0"/>
          </a:p>
        </p:txBody>
      </p:sp>
      <p:sp>
        <p:nvSpPr>
          <p:cNvPr id="54" name="Shape 50"/>
          <p:cNvSpPr/>
          <p:nvPr/>
        </p:nvSpPr>
        <p:spPr>
          <a:xfrm>
            <a:off x="19257264" y="15316200"/>
            <a:ext cx="4096512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38100">
            <a:solidFill>
              <a:srgbClr val="C47C1A"/>
            </a:solidFill>
            <a:prstDash val="solid"/>
          </a:ln>
          <a:effectLst>
            <a:outerShdw sx="100000" sy="100000" kx="0" ky="0" algn="bl" rotWithShape="0" blurRad="101600" dist="38100" dir="5400000">
              <a:srgbClr val="3A4A3A">
                <a:alpha val="15000"/>
              </a:srgbClr>
            </a:outerShdw>
          </a:effectLst>
        </p:spPr>
      </p:sp>
      <p:sp>
        <p:nvSpPr>
          <p:cNvPr id="55" name="Text 51"/>
          <p:cNvSpPr/>
          <p:nvPr/>
        </p:nvSpPr>
        <p:spPr>
          <a:xfrm>
            <a:off x="19257264" y="15453360"/>
            <a:ext cx="4096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47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200" dirty="0"/>
          </a:p>
        </p:txBody>
      </p:sp>
      <p:sp>
        <p:nvSpPr>
          <p:cNvPr id="56" name="Text 52"/>
          <p:cNvSpPr/>
          <p:nvPr/>
        </p:nvSpPr>
        <p:spPr>
          <a:xfrm>
            <a:off x="19257264" y="16733520"/>
            <a:ext cx="4096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overselling 2 kasir</a:t>
            </a:r>
            <a:endParaRPr lang="en-US" sz="17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konkuren (FOR UPDATE)</a:t>
            </a:r>
            <a:endParaRPr lang="en-US" sz="1700" dirty="0"/>
          </a:p>
        </p:txBody>
      </p:sp>
      <p:sp>
        <p:nvSpPr>
          <p:cNvPr id="57" name="Shape 53"/>
          <p:cNvSpPr/>
          <p:nvPr/>
        </p:nvSpPr>
        <p:spPr>
          <a:xfrm>
            <a:off x="10698480" y="18425160"/>
            <a:ext cx="12664440" cy="525780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19050">
            <a:solidFill>
              <a:srgbClr val="D7E4CE"/>
            </a:solidFill>
            <a:prstDash val="solid"/>
          </a:ln>
          <a:effectLst>
            <a:outerShdw sx="100000" sy="100000" kx="0" ky="0" algn="bl" rotWithShape="0" blurRad="127000" dist="38100" dir="5400000">
              <a:srgbClr val="3A4A3A">
                <a:alpha val="18000"/>
              </a:srgbClr>
            </a:outerShdw>
          </a:effectLst>
        </p:spPr>
      </p:sp>
      <p:sp>
        <p:nvSpPr>
          <p:cNvPr id="58" name="Shape 54"/>
          <p:cNvSpPr/>
          <p:nvPr/>
        </p:nvSpPr>
        <p:spPr>
          <a:xfrm>
            <a:off x="11064240" y="18745200"/>
            <a:ext cx="11932920" cy="822960"/>
          </a:xfrm>
          <a:prstGeom prst="roundRect">
            <a:avLst>
              <a:gd name="adj" fmla="val 13333"/>
            </a:avLst>
          </a:prstGeom>
          <a:solidFill>
            <a:srgbClr val="E9F2E1"/>
          </a:solidFill>
          <a:ln/>
        </p:spPr>
      </p:sp>
      <p:sp>
        <p:nvSpPr>
          <p:cNvPr id="59" name="Text 55"/>
          <p:cNvSpPr/>
          <p:nvPr/>
        </p:nvSpPr>
        <p:spPr>
          <a:xfrm>
            <a:off x="11384280" y="18745200"/>
            <a:ext cx="11292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</a:t>
            </a:r>
            <a:endParaRPr lang="en-US" sz="3000" dirty="0"/>
          </a:p>
        </p:txBody>
      </p:sp>
      <p:sp>
        <p:nvSpPr>
          <p:cNvPr id="60" name="Text 56"/>
          <p:cNvSpPr/>
          <p:nvPr/>
        </p:nvSpPr>
        <p:spPr>
          <a:xfrm>
            <a:off x="11109960" y="19568160"/>
            <a:ext cx="11841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▸"/>
            </a:pPr>
            <a:r>
              <a:rPr lang="en-US" sz="19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Replikasi asinkron = eventual consistency yang memadai untuk data master (jeda &lt; 2 detik).</a:t>
            </a:r>
            <a:endParaRPr lang="en-US" sz="1950" dirty="0"/>
          </a:p>
          <a:p>
            <a:pPr algn="l"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▸"/>
            </a:pPr>
            <a:r>
              <a:rPr lang="en-US" sz="19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Otonomi cabang adalah nilai jual utama: kasir tetap melayani walau koneksi ke pusat putus.</a:t>
            </a:r>
            <a:endParaRPr lang="en-US" sz="1950" dirty="0"/>
          </a:p>
          <a:p>
            <a:pPr algn="l"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▸"/>
            </a:pPr>
            <a:r>
              <a:rPr lang="en-US" sz="19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Kelemahan diakui: view global (UNION ALL) menuntut semua node hidup — dimitigasi kueri per-fragmen bertoleransi gangguan (graceful degradation).</a:t>
            </a:r>
            <a:endParaRPr lang="en-US" sz="1950" dirty="0"/>
          </a:p>
          <a:p>
            <a:pPr algn="l" marL="203200" indent="-203200">
              <a:lnSpc>
                <a:spcPct val="106000"/>
              </a:lnSpc>
              <a:buSzPct val="100000"/>
              <a:buChar char="▸"/>
            </a:pPr>
            <a:r>
              <a:rPr lang="en-US" sz="19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2PC secara desain: tidak ada transaksi yang menulis ke dua node sekaligus.</a:t>
            </a:r>
            <a:endParaRPr lang="en-US" sz="1950" dirty="0"/>
          </a:p>
        </p:txBody>
      </p:sp>
      <p:sp>
        <p:nvSpPr>
          <p:cNvPr id="61" name="Shape 57"/>
          <p:cNvSpPr/>
          <p:nvPr/>
        </p:nvSpPr>
        <p:spPr>
          <a:xfrm>
            <a:off x="23728680" y="5349240"/>
            <a:ext cx="11631168" cy="10104120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9050">
            <a:solidFill>
              <a:srgbClr val="D7E4CE"/>
            </a:solidFill>
            <a:prstDash val="solid"/>
          </a:ln>
          <a:effectLst>
            <a:outerShdw sx="100000" sy="100000" kx="0" ky="0" algn="bl" rotWithShape="0" blurRad="127000" dist="38100" dir="5400000">
              <a:srgbClr val="3A4A3A">
                <a:alpha val="18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24094440" y="5669280"/>
            <a:ext cx="10899648" cy="822960"/>
          </a:xfrm>
          <a:prstGeom prst="roundRect">
            <a:avLst>
              <a:gd name="adj" fmla="val 13333"/>
            </a:avLst>
          </a:prstGeom>
          <a:solidFill>
            <a:srgbClr val="E9F2E1"/>
          </a:solidFill>
          <a:ln/>
        </p:spPr>
      </p:sp>
      <p:sp>
        <p:nvSpPr>
          <p:cNvPr id="63" name="Text 59"/>
          <p:cNvSpPr/>
          <p:nvPr/>
        </p:nvSpPr>
        <p:spPr>
          <a:xfrm>
            <a:off x="24414480" y="5669280"/>
            <a:ext cx="1025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PENGUJIAN</a:t>
            </a:r>
            <a:endParaRPr lang="en-US" sz="3000" dirty="0"/>
          </a:p>
        </p:txBody>
      </p:sp>
      <p:sp>
        <p:nvSpPr>
          <p:cNvPr id="64" name="Shape 60"/>
          <p:cNvSpPr/>
          <p:nvPr/>
        </p:nvSpPr>
        <p:spPr>
          <a:xfrm>
            <a:off x="24140160" y="6702552"/>
            <a:ext cx="603504" cy="603504"/>
          </a:xfrm>
          <a:prstGeom prst="ellipse">
            <a:avLst/>
          </a:prstGeom>
          <a:solidFill>
            <a:srgbClr val="E9F2E1"/>
          </a:solidFill>
          <a:ln/>
        </p:spPr>
      </p:sp>
      <p:sp>
        <p:nvSpPr>
          <p:cNvPr id="65" name="Text 61"/>
          <p:cNvSpPr/>
          <p:nvPr/>
        </p:nvSpPr>
        <p:spPr>
          <a:xfrm>
            <a:off x="24140160" y="6702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600" dirty="0"/>
          </a:p>
        </p:txBody>
      </p:sp>
      <p:sp>
        <p:nvSpPr>
          <p:cNvPr id="66" name="Text 62"/>
          <p:cNvSpPr/>
          <p:nvPr/>
        </p:nvSpPr>
        <p:spPr>
          <a:xfrm>
            <a:off x="24963120" y="6464808"/>
            <a:ext cx="9939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Replikasi — </a:t>
            </a:r>
            <a:pPr algn="l" indent="0" marL="0">
              <a:lnSpc>
                <a:spcPct val="103000"/>
              </a:lnSpc>
              <a:buNone/>
            </a:pPr>
            <a:r>
              <a:rPr lang="en-US" sz="18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 baru di pusat muncul di kedua cabang &lt; 2 detik.</a:t>
            </a:r>
            <a:endParaRPr lang="en-US" sz="1850" dirty="0"/>
          </a:p>
        </p:txBody>
      </p:sp>
      <p:sp>
        <p:nvSpPr>
          <p:cNvPr id="67" name="Shape 63"/>
          <p:cNvSpPr/>
          <p:nvPr/>
        </p:nvSpPr>
        <p:spPr>
          <a:xfrm>
            <a:off x="24140160" y="8147304"/>
            <a:ext cx="603504" cy="603504"/>
          </a:xfrm>
          <a:prstGeom prst="ellipse">
            <a:avLst/>
          </a:prstGeom>
          <a:solidFill>
            <a:srgbClr val="E9F2E1"/>
          </a:solidFill>
          <a:ln/>
        </p:spPr>
      </p:sp>
      <p:sp>
        <p:nvSpPr>
          <p:cNvPr id="68" name="Text 64"/>
          <p:cNvSpPr/>
          <p:nvPr/>
        </p:nvSpPr>
        <p:spPr>
          <a:xfrm>
            <a:off x="24140160" y="81473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600" dirty="0"/>
          </a:p>
        </p:txBody>
      </p:sp>
      <p:sp>
        <p:nvSpPr>
          <p:cNvPr id="69" name="Text 65"/>
          <p:cNvSpPr/>
          <p:nvPr/>
        </p:nvSpPr>
        <p:spPr>
          <a:xfrm>
            <a:off x="24963120" y="7909560"/>
            <a:ext cx="9939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Fragmentasi — </a:t>
            </a:r>
            <a:pPr algn="l" indent="0" marL="0">
              <a:lnSpc>
                <a:spcPct val="103000"/>
              </a:lnSpc>
              <a:buNone/>
            </a:pPr>
            <a:r>
              <a:rPr lang="en-US" sz="18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tiap cabang hanya berisi datanya; produk baru tiba stok 0, diisi lokal.</a:t>
            </a:r>
            <a:endParaRPr lang="en-US" sz="1850" dirty="0"/>
          </a:p>
        </p:txBody>
      </p:sp>
      <p:sp>
        <p:nvSpPr>
          <p:cNvPr id="70" name="Shape 66"/>
          <p:cNvSpPr/>
          <p:nvPr/>
        </p:nvSpPr>
        <p:spPr>
          <a:xfrm>
            <a:off x="24140160" y="9592056"/>
            <a:ext cx="603504" cy="603504"/>
          </a:xfrm>
          <a:prstGeom prst="ellipse">
            <a:avLst/>
          </a:prstGeom>
          <a:solidFill>
            <a:srgbClr val="E9F2E1"/>
          </a:solidFill>
          <a:ln/>
        </p:spPr>
      </p:sp>
      <p:sp>
        <p:nvSpPr>
          <p:cNvPr id="71" name="Text 67"/>
          <p:cNvSpPr/>
          <p:nvPr/>
        </p:nvSpPr>
        <p:spPr>
          <a:xfrm>
            <a:off x="24140160" y="95920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600" dirty="0"/>
          </a:p>
        </p:txBody>
      </p:sp>
      <p:sp>
        <p:nvSpPr>
          <p:cNvPr id="72" name="Text 68"/>
          <p:cNvSpPr/>
          <p:nvPr/>
        </p:nvSpPr>
        <p:spPr>
          <a:xfrm>
            <a:off x="24963120" y="9354312"/>
            <a:ext cx="9939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query — </a:t>
            </a:r>
            <a:pPr algn="l" indent="0" marL="0">
              <a:lnSpc>
                <a:spcPct val="103000"/>
              </a:lnSpc>
              <a:buNone/>
            </a:pPr>
            <a:r>
              <a:rPr lang="en-US" sz="18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omzet &amp; terlaris gabungan 2 cabang, satu kueri dari pusat.</a:t>
            </a:r>
            <a:endParaRPr lang="en-US" sz="1850" dirty="0"/>
          </a:p>
        </p:txBody>
      </p:sp>
      <p:sp>
        <p:nvSpPr>
          <p:cNvPr id="73" name="Shape 69"/>
          <p:cNvSpPr/>
          <p:nvPr/>
        </p:nvSpPr>
        <p:spPr>
          <a:xfrm>
            <a:off x="24140160" y="11036808"/>
            <a:ext cx="603504" cy="603504"/>
          </a:xfrm>
          <a:prstGeom prst="ellipse">
            <a:avLst/>
          </a:prstGeom>
          <a:solidFill>
            <a:srgbClr val="E9F2E1"/>
          </a:solidFill>
          <a:ln/>
        </p:spPr>
      </p:sp>
      <p:sp>
        <p:nvSpPr>
          <p:cNvPr id="74" name="Text 70"/>
          <p:cNvSpPr/>
          <p:nvPr/>
        </p:nvSpPr>
        <p:spPr>
          <a:xfrm>
            <a:off x="24140160" y="11036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600" dirty="0"/>
          </a:p>
        </p:txBody>
      </p:sp>
      <p:sp>
        <p:nvSpPr>
          <p:cNvPr id="75" name="Text 71"/>
          <p:cNvSpPr/>
          <p:nvPr/>
        </p:nvSpPr>
        <p:spPr>
          <a:xfrm>
            <a:off x="24963120" y="10799064"/>
            <a:ext cx="9939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Integritas — </a:t>
            </a:r>
            <a:pPr algn="l" indent="0" marL="0">
              <a:lnSpc>
                <a:spcPct val="103000"/>
              </a:lnSpc>
              <a:buNone/>
            </a:pPr>
            <a:r>
              <a:rPr lang="en-US" sz="18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penjualan melebihi stok ditolak &amp; di-rollback; stok tak berubah.</a:t>
            </a:r>
            <a:endParaRPr lang="en-US" sz="1850" dirty="0"/>
          </a:p>
        </p:txBody>
      </p:sp>
      <p:sp>
        <p:nvSpPr>
          <p:cNvPr id="76" name="Shape 72"/>
          <p:cNvSpPr/>
          <p:nvPr/>
        </p:nvSpPr>
        <p:spPr>
          <a:xfrm>
            <a:off x="24140160" y="12481560"/>
            <a:ext cx="603504" cy="603504"/>
          </a:xfrm>
          <a:prstGeom prst="ellipse">
            <a:avLst/>
          </a:prstGeom>
          <a:solidFill>
            <a:srgbClr val="E9F2E1"/>
          </a:solidFill>
          <a:ln/>
        </p:spPr>
      </p:sp>
      <p:sp>
        <p:nvSpPr>
          <p:cNvPr id="77" name="Text 73"/>
          <p:cNvSpPr/>
          <p:nvPr/>
        </p:nvSpPr>
        <p:spPr>
          <a:xfrm>
            <a:off x="24140160" y="12481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600" dirty="0"/>
          </a:p>
        </p:txBody>
      </p:sp>
      <p:sp>
        <p:nvSpPr>
          <p:cNvPr id="78" name="Text 74"/>
          <p:cNvSpPr/>
          <p:nvPr/>
        </p:nvSpPr>
        <p:spPr>
          <a:xfrm>
            <a:off x="24963120" y="12243816"/>
            <a:ext cx="9939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Konkurensi — </a:t>
            </a:r>
            <a:pPr algn="l" indent="0" marL="0">
              <a:lnSpc>
                <a:spcPct val="103000"/>
              </a:lnSpc>
              <a:buNone/>
            </a:pPr>
            <a:r>
              <a:rPr lang="en-US" sz="18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kasir berebut stok 10 (7+7) — tepat satu berhasil, stok akhir 3.</a:t>
            </a:r>
            <a:endParaRPr lang="en-US" sz="1850" dirty="0"/>
          </a:p>
        </p:txBody>
      </p:sp>
      <p:sp>
        <p:nvSpPr>
          <p:cNvPr id="79" name="Shape 75"/>
          <p:cNvSpPr/>
          <p:nvPr/>
        </p:nvSpPr>
        <p:spPr>
          <a:xfrm>
            <a:off x="24140160" y="13926312"/>
            <a:ext cx="603504" cy="603504"/>
          </a:xfrm>
          <a:prstGeom prst="ellipse">
            <a:avLst/>
          </a:prstGeom>
          <a:solidFill>
            <a:srgbClr val="E9F2E1"/>
          </a:solidFill>
          <a:ln/>
        </p:spPr>
      </p:sp>
      <p:sp>
        <p:nvSpPr>
          <p:cNvPr id="80" name="Text 76"/>
          <p:cNvSpPr/>
          <p:nvPr/>
        </p:nvSpPr>
        <p:spPr>
          <a:xfrm>
            <a:off x="24140160" y="139263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600" dirty="0"/>
          </a:p>
        </p:txBody>
      </p:sp>
      <p:sp>
        <p:nvSpPr>
          <p:cNvPr id="81" name="Text 77"/>
          <p:cNvSpPr/>
          <p:nvPr/>
        </p:nvSpPr>
        <p:spPr>
          <a:xfrm>
            <a:off x="24963120" y="13688568"/>
            <a:ext cx="9939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5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Toleransi gangguan — </a:t>
            </a:r>
            <a:pPr algn="l" indent="0" marL="0">
              <a:lnSpc>
                <a:spcPct val="103000"/>
              </a:lnSpc>
              <a:buNone/>
            </a:pPr>
            <a:r>
              <a:rPr lang="en-US" sz="1850" dirty="0">
                <a:solidFill>
                  <a:srgbClr val="1C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cabang 2 mati: view global gagal, laporan tahan-gangguan &amp; kasir cabang 1 tetap jalan.</a:t>
            </a:r>
            <a:endParaRPr lang="en-US" sz="1850" dirty="0"/>
          </a:p>
        </p:txBody>
      </p:sp>
      <p:sp>
        <p:nvSpPr>
          <p:cNvPr id="82" name="Shape 78"/>
          <p:cNvSpPr/>
          <p:nvPr/>
        </p:nvSpPr>
        <p:spPr>
          <a:xfrm>
            <a:off x="23728680" y="15727680"/>
            <a:ext cx="11631168" cy="4114800"/>
          </a:xfrm>
          <a:prstGeom prst="roundRect">
            <a:avLst>
              <a:gd name="adj" fmla="val 4000"/>
            </a:avLst>
          </a:prstGeom>
          <a:solidFill>
            <a:srgbClr val="234D24"/>
          </a:solidFill>
          <a:ln/>
          <a:effectLst>
            <a:outerShdw sx="100000" sy="100000" kx="0" ky="0" algn="bl" rotWithShape="0" blurRad="127000" dist="38100" dir="5400000">
              <a:srgbClr val="1A2A1A">
                <a:alpha val="25000"/>
              </a:srgbClr>
            </a:outerShdw>
          </a:effectLst>
        </p:spPr>
      </p:sp>
      <p:sp>
        <p:nvSpPr>
          <p:cNvPr id="83" name="Shape 79"/>
          <p:cNvSpPr/>
          <p:nvPr/>
        </p:nvSpPr>
        <p:spPr>
          <a:xfrm>
            <a:off x="32525208" y="18013680"/>
            <a:ext cx="3840480" cy="3840480"/>
          </a:xfrm>
          <a:prstGeom prst="ellipse">
            <a:avLst/>
          </a:prstGeom>
          <a:solidFill>
            <a:srgbClr val="7AA050">
              <a:alpha val="20000"/>
            </a:srgbClr>
          </a:solidFill>
          <a:ln/>
        </p:spPr>
      </p:sp>
      <p:sp>
        <p:nvSpPr>
          <p:cNvPr id="84" name="Text 80"/>
          <p:cNvSpPr/>
          <p:nvPr/>
        </p:nvSpPr>
        <p:spPr>
          <a:xfrm>
            <a:off x="24185880" y="16047720"/>
            <a:ext cx="10716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3000" dirty="0"/>
          </a:p>
        </p:txBody>
      </p:sp>
      <p:sp>
        <p:nvSpPr>
          <p:cNvPr id="85" name="Text 81"/>
          <p:cNvSpPr/>
          <p:nvPr/>
        </p:nvSpPr>
        <p:spPr>
          <a:xfrm>
            <a:off x="24185880" y="16779240"/>
            <a:ext cx="107167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8F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Fragmentasi + replikasi logis + postgres_fdw menghasilkan sistem apotek multi-cabang yang </a:t>
            </a:r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otonom per cabang, konsisten (&lt; 2 dtk), transparan-lokasi, bebas overselling, dan menurun anggun saat node gagal</a:t>
            </a:r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8F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 atas PostgreSQL standar tanpa middleware.</a:t>
            </a:r>
            <a:endParaRPr lang="en-US" sz="2100" dirty="0"/>
          </a:p>
        </p:txBody>
      </p:sp>
      <p:sp>
        <p:nvSpPr>
          <p:cNvPr id="86" name="Shape 82"/>
          <p:cNvSpPr/>
          <p:nvPr/>
        </p:nvSpPr>
        <p:spPr>
          <a:xfrm>
            <a:off x="23728680" y="20116800"/>
            <a:ext cx="11631168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D7E4CE"/>
            </a:solidFill>
            <a:prstDash val="solid"/>
          </a:ln>
          <a:effectLst>
            <a:outerShdw sx="100000" sy="100000" kx="0" ky="0" algn="bl" rotWithShape="0" blurRad="127000" dist="38100" dir="5400000">
              <a:srgbClr val="3A4A3A">
                <a:alpha val="18000"/>
              </a:srgbClr>
            </a:outerShdw>
          </a:effectLst>
        </p:spPr>
      </p:sp>
      <p:sp>
        <p:nvSpPr>
          <p:cNvPr id="87" name="Shape 83"/>
          <p:cNvSpPr/>
          <p:nvPr/>
        </p:nvSpPr>
        <p:spPr>
          <a:xfrm>
            <a:off x="24094440" y="20436840"/>
            <a:ext cx="10899648" cy="822960"/>
          </a:xfrm>
          <a:prstGeom prst="roundRect">
            <a:avLst>
              <a:gd name="adj" fmla="val 13333"/>
            </a:avLst>
          </a:prstGeom>
          <a:solidFill>
            <a:srgbClr val="E9F2E1"/>
          </a:solidFill>
          <a:ln/>
        </p:spPr>
      </p:sp>
      <p:sp>
        <p:nvSpPr>
          <p:cNvPr id="88" name="Text 84"/>
          <p:cNvSpPr/>
          <p:nvPr/>
        </p:nvSpPr>
        <p:spPr>
          <a:xfrm>
            <a:off x="24414480" y="20436840"/>
            <a:ext cx="1025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4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</a:t>
            </a:r>
            <a:endParaRPr lang="en-US" sz="3000" dirty="0"/>
          </a:p>
        </p:txBody>
      </p:sp>
      <p:sp>
        <p:nvSpPr>
          <p:cNvPr id="89" name="Text 85"/>
          <p:cNvSpPr/>
          <p:nvPr/>
        </p:nvSpPr>
        <p:spPr>
          <a:xfrm>
            <a:off x="24140160" y="21214080"/>
            <a:ext cx="1080820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Özsu &amp; Valduriez (2020). Principles of Distributed Database Systems, 4th ed. Springer.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Elmasri &amp; Navathe (2016). Fundamentals of Database Systems, 7th ed. Pearson.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Pramadhitya dkk. (2016). Rancang bangun sistem terdistribusi pada apotek. J. MERPATI 4(1).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Wahyu (2024). Replikasi data terdistribusi pada e-library. Pros. SEMINASTIKA 5(1).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Docs: Logical Replication (Ch. 31); postgres_fdw (F.38).</a:t>
            </a:r>
            <a:endParaRPr lang="en-US" sz="1450" dirty="0"/>
          </a:p>
        </p:txBody>
      </p:sp>
      <p:sp>
        <p:nvSpPr>
          <p:cNvPr id="90" name="Shape 86"/>
          <p:cNvSpPr/>
          <p:nvPr/>
        </p:nvSpPr>
        <p:spPr>
          <a:xfrm>
            <a:off x="0" y="23911560"/>
            <a:ext cx="35999928" cy="1280160"/>
          </a:xfrm>
          <a:prstGeom prst="rect">
            <a:avLst/>
          </a:prstGeom>
          <a:solidFill>
            <a:srgbClr val="234D24"/>
          </a:solidFill>
          <a:ln/>
        </p:spPr>
      </p:sp>
      <p:sp>
        <p:nvSpPr>
          <p:cNvPr id="91" name="Shape 87"/>
          <p:cNvSpPr/>
          <p:nvPr/>
        </p:nvSpPr>
        <p:spPr>
          <a:xfrm>
            <a:off x="-2011680" y="23042880"/>
            <a:ext cx="4937760" cy="4937760"/>
          </a:xfrm>
          <a:prstGeom prst="ellipse">
            <a:avLst/>
          </a:prstGeom>
          <a:solidFill>
            <a:srgbClr val="7AA050">
              <a:alpha val="20000"/>
            </a:srgbClr>
          </a:solidFill>
          <a:ln/>
        </p:spPr>
      </p:sp>
      <p:sp>
        <p:nvSpPr>
          <p:cNvPr id="92" name="Text 88"/>
          <p:cNvSpPr/>
          <p:nvPr/>
        </p:nvSpPr>
        <p:spPr>
          <a:xfrm>
            <a:off x="640080" y="23911560"/>
            <a:ext cx="2468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D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   </a:t>
            </a:r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 •  Logical Replication  •  postgres_fdw  •  Docker Compose  •  Node.js + Express  •  PL/pgSQL</a:t>
            </a:r>
            <a:endParaRPr lang="en-US" sz="2100" dirty="0"/>
          </a:p>
        </p:txBody>
      </p:sp>
      <p:sp>
        <p:nvSpPr>
          <p:cNvPr id="93" name="Text 89"/>
          <p:cNvSpPr/>
          <p:nvPr/>
        </p:nvSpPr>
        <p:spPr>
          <a:xfrm>
            <a:off x="25786080" y="239115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i="1" dirty="0">
                <a:solidFill>
                  <a:srgbClr val="B9D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Akhir Basis Data Terdistribusi — 2026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2026-07-11T08:39:40Z</dcterms:created>
  <dcterms:modified xsi:type="dcterms:W3CDTF">2026-07-11T08:39:40Z</dcterms:modified>
</cp:coreProperties>
</file>