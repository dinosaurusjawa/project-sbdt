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1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5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7683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4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645920"/>
            <a:ext cx="4937760" cy="4937760"/>
          </a:xfrm>
          <a:prstGeom prst="ellipse">
            <a:avLst/>
          </a:prstGeom>
          <a:solidFill>
            <a:srgbClr val="7AA050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4206240" cy="4206240"/>
          </a:xfrm>
          <a:prstGeom prst="ellipse">
            <a:avLst/>
          </a:prstGeom>
          <a:solidFill>
            <a:srgbClr val="7AA05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640080"/>
            <a:ext cx="1600200" cy="169164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</p:spPr>
      </p:sp>
      <p:pic>
        <p:nvPicPr>
          <p:cNvPr id="5" name="Image 0" descr="/tmp/ue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722376"/>
            <a:ext cx="1399032" cy="14081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260604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RANCANG BANGUN SISTEM BASIS DATA TERDISTRIBUSI PADA APOTEK MULTI-CABANG MENGGUNAKAN POSTGRESQL</a:t>
            </a:r>
            <a:endParaRPr lang="en-US" sz="3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700" i="1" dirty="0">
                <a:solidFill>
                  <a:srgbClr val="B9D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Implementasi Fragmentasi Horizontal, Replikasi Logis, dan Distributed Query</a:t>
            </a:r>
            <a:endParaRPr lang="en-US" sz="3100" dirty="0"/>
          </a:p>
        </p:txBody>
      </p:sp>
      <p:sp>
        <p:nvSpPr>
          <p:cNvPr id="7" name="Text 4"/>
          <p:cNvSpPr/>
          <p:nvPr/>
        </p:nvSpPr>
        <p:spPr>
          <a:xfrm>
            <a:off x="685800" y="48006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Mikael Marcellino Kevin Ravidion P</a:t>
            </a:r>
            <a:r>
              <a:rPr lang="en-US" sz="1700" dirty="0">
                <a:solidFill>
                  <a:srgbClr val="B9D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  NIM 20230801509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85800" y="52578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9D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Studi Sistem Informasi  •  Fakultas Ilmu Komputer  •  Universitas Esa Unggul  •  2026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85800" y="5806440"/>
            <a:ext cx="5760720" cy="658368"/>
          </a:xfrm>
          <a:prstGeom prst="roundRect">
            <a:avLst>
              <a:gd name="adj" fmla="val 12500"/>
            </a:avLst>
          </a:prstGeom>
          <a:solidFill>
            <a:srgbClr val="2E5A2F"/>
          </a:solidFill>
          <a:ln/>
        </p:spPr>
      </p:sp>
      <p:sp>
        <p:nvSpPr>
          <p:cNvPr id="10" name="Text 7"/>
          <p:cNvSpPr/>
          <p:nvPr/>
        </p:nvSpPr>
        <p:spPr>
          <a:xfrm>
            <a:off x="896112" y="580644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9D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Dosen Pembimbing:  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Jefry Sunupurwa Asri, S.Kom., M.Kom.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94392" y="-1280160"/>
            <a:ext cx="3291840" cy="3291840"/>
          </a:xfrm>
          <a:prstGeom prst="ellipse">
            <a:avLst/>
          </a:prstGeom>
          <a:solidFill>
            <a:srgbClr val="7AA050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212080"/>
            <a:ext cx="2743200" cy="2743200"/>
          </a:xfrm>
          <a:prstGeom prst="ellipse">
            <a:avLst/>
          </a:prstGeom>
          <a:solidFill>
            <a:srgbClr val="7AA050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Latar Belakang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137392" y="3200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7AA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64008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Rancang Bangun Sistem Basis Data Terdistribusi pada Apotek Multi-Cabang — Mikael M. K. Ravidion P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5486400" cy="4892040"/>
          </a:xfrm>
          <a:prstGeom prst="roundRect">
            <a:avLst>
              <a:gd name="adj" fmla="val 1869"/>
            </a:avLst>
          </a:prstGeom>
          <a:solidFill>
            <a:srgbClr val="FBEEE0"/>
          </a:solidFill>
          <a:ln w="12700">
            <a:solidFill>
              <a:srgbClr val="E8D5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508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47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MASALAH — basis data terpusat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2103120"/>
            <a:ext cx="4800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▸"/>
            </a:pPr>
            <a:r>
              <a:rPr lang="en-US" sz="155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Seluruh transaksi cabang bergantung pada satu server pusat.</a:t>
            </a:r>
            <a:endParaRPr lang="en-US" sz="155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▸"/>
            </a:pPr>
            <a:r>
              <a:rPr lang="en-US" sz="155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Gangguan jaringan / server pusat = seluruh kasir cabang berhenti melayani.</a:t>
            </a:r>
            <a:endParaRPr lang="en-US" sz="155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▸"/>
            </a:pPr>
            <a:r>
              <a:rPr lang="en-US" sz="155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Beban komputasi &amp; penyimpanan menumpuk di satu titik.</a:t>
            </a:r>
            <a:endParaRPr lang="en-US" sz="1550" dirty="0"/>
          </a:p>
          <a:p>
            <a:pPr marL="152400" indent="-152400">
              <a:lnSpc>
                <a:spcPct val="110000"/>
              </a:lnSpc>
              <a:buSzPct val="100000"/>
              <a:buChar char="▸"/>
            </a:pPr>
            <a:r>
              <a:rPr lang="en-US" sz="155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Terjadi pada apotek multi-cabang nyata (Pramadhitya dkk., 2016).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263640" y="1234440"/>
            <a:ext cx="5440680" cy="4892040"/>
          </a:xfrm>
          <a:prstGeom prst="roundRect">
            <a:avLst>
              <a:gd name="adj" fmla="val 1869"/>
            </a:avLst>
          </a:prstGeom>
          <a:solidFill>
            <a:srgbClr val="E9F2E1"/>
          </a:solidFill>
          <a:ln w="12700">
            <a:solidFill>
              <a:srgbClr val="D7E4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1508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SOLUSI — basis data terdistribusi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629400" y="2103120"/>
            <a:ext cx="47548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Fragmentasi</a:t>
            </a:r>
            <a:r>
              <a:rPr lang="en-US" sz="155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data transaksi disimpan di cabang yang memakainya.</a:t>
            </a:r>
            <a:endParaRPr lang="en-US" sz="15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Replikasi</a:t>
            </a:r>
            <a:r>
              <a:rPr lang="en-US" sz="155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data master disalin otomatis ke semua cabang.</a:t>
            </a:r>
            <a:endParaRPr lang="en-US" sz="15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query</a:t>
            </a:r>
            <a:r>
              <a:rPr lang="en-US" sz="155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pusat tetap dapat laporan gabungan real-time.</a:t>
            </a:r>
            <a:endParaRPr lang="en-US" sz="15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5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(Özsu &amp; Valduriez, 2020; Elmasri &amp; Navathe, 2016)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94392" y="-1280160"/>
            <a:ext cx="3291840" cy="3291840"/>
          </a:xfrm>
          <a:prstGeom prst="ellipse">
            <a:avLst/>
          </a:prstGeom>
          <a:solidFill>
            <a:srgbClr val="7AA050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212080"/>
            <a:ext cx="2743200" cy="2743200"/>
          </a:xfrm>
          <a:prstGeom prst="ellipse">
            <a:avLst/>
          </a:prstGeom>
          <a:solidFill>
            <a:srgbClr val="7AA050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Rumusan Masalah &amp; Batasan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137392" y="3200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7AA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64008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Rancang Bangun Sistem Basis Data Terdistribusi pada Apotek Multi-Cabang — Mikael M. K. Ravidion P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566928" cy="566928"/>
          </a:xfrm>
          <a:prstGeom prst="ellipse">
            <a:avLst/>
          </a:prstGeom>
          <a:solidFill>
            <a:srgbClr val="234D24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71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17320" y="125272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65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Bagaimana merancang skema fragmentasi horizontal &amp; replikasi untuk apotek multi-cabang?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640080" y="2331720"/>
            <a:ext cx="566928" cy="566928"/>
          </a:xfrm>
          <a:prstGeom prst="ellipse">
            <a:avLst/>
          </a:prstGeom>
          <a:solidFill>
            <a:srgbClr val="234D24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17320" y="221284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65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Bagaimana mengimplementasikan replikasi logis dan distributed query antar node PostgreSQL?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640080" y="3291840"/>
            <a:ext cx="566928" cy="566928"/>
          </a:xfrm>
          <a:prstGeom prst="ellipse">
            <a:avLst/>
          </a:prstGeom>
          <a:solidFill>
            <a:srgbClr val="234D2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291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17320" y="317296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65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Bagaimana sistem menjaga konsistensi pada transaksi konkuren dan tetap melayani saat satu node gagal?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502920" y="4480560"/>
            <a:ext cx="11201400" cy="1691640"/>
          </a:xfrm>
          <a:prstGeom prst="roundRect">
            <a:avLst>
              <a:gd name="adj" fmla="val 5405"/>
            </a:avLst>
          </a:prstGeom>
          <a:solidFill>
            <a:srgbClr val="F3F8F0"/>
          </a:solidFill>
          <a:ln w="12700">
            <a:solidFill>
              <a:srgbClr val="D7E4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663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Batasan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68680" y="50749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Simulasi 3 node Docker di satu komputer  •  data master dikelola hanya di pusat (replikasi satu arah)  •  keamanan jaringan produksi &amp; backup di luar cakupan  •  transaksi antar-cabang (transfer stok) tidak dibahas.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94392" y="-1280160"/>
            <a:ext cx="3291840" cy="3291840"/>
          </a:xfrm>
          <a:prstGeom prst="ellipse">
            <a:avLst/>
          </a:prstGeom>
          <a:solidFill>
            <a:srgbClr val="7AA050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212080"/>
            <a:ext cx="2743200" cy="2743200"/>
          </a:xfrm>
          <a:prstGeom prst="ellipse">
            <a:avLst/>
          </a:prstGeom>
          <a:solidFill>
            <a:srgbClr val="7AA050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Tujuan &amp; Manfaat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137392" y="3200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7AA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64008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Rancang Bangun Sistem Basis Data Terdistribusi pada Apotek Multi-Cabang — Mikael M. K. Ravidion P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TUJUAN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53949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Merancang skema fragmentasi horizontal &amp; replikasi.</a:t>
            </a:r>
            <a:endParaRPr lang="en-US" sz="1550" dirty="0"/>
          </a:p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Mengimplementasikan replikasi logis publisher–subscriber antar node PostgreSQL.</a:t>
            </a:r>
            <a:endParaRPr lang="en-US" sz="1550" dirty="0"/>
          </a:p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Menyediakan laporan konsolidasi lintas node dalam satu kueri (postgres_fdw).</a:t>
            </a:r>
            <a:endParaRPr lang="en-US" sz="1550" dirty="0"/>
          </a:p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Menguji konsistensi transaksi konkuren &amp; perilaku sistem saat node gagal.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400800" y="12801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MANFAAT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0" y="1828800"/>
            <a:ext cx="5257800" cy="868680"/>
          </a:xfrm>
          <a:prstGeom prst="roundRect">
            <a:avLst>
              <a:gd name="adj" fmla="val 10526"/>
            </a:avLst>
          </a:prstGeom>
          <a:solidFill>
            <a:srgbClr val="F3F8F0"/>
          </a:solidFill>
          <a:ln w="12700">
            <a:solidFill>
              <a:srgbClr val="D7E4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182880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 — </a:t>
            </a:r>
            <a:r>
              <a:rPr lang="en-US" sz="145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cabang tetap beroperasi walau koneksi pusat terganggu.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0" y="2880360"/>
            <a:ext cx="5257800" cy="868680"/>
          </a:xfrm>
          <a:prstGeom prst="roundRect">
            <a:avLst>
              <a:gd name="adj" fmla="val 10526"/>
            </a:avLst>
          </a:prstGeom>
          <a:solidFill>
            <a:srgbClr val="F3F8F0"/>
          </a:solidFill>
          <a:ln w="12700">
            <a:solidFill>
              <a:srgbClr val="D7E4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288036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Kinerja — </a:t>
            </a:r>
            <a:r>
              <a:rPr lang="en-US" sz="145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beban kerja tersebar ke tiap node.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00800" y="3931920"/>
            <a:ext cx="5257800" cy="868680"/>
          </a:xfrm>
          <a:prstGeom prst="roundRect">
            <a:avLst>
              <a:gd name="adj" fmla="val 10526"/>
            </a:avLst>
          </a:prstGeom>
          <a:solidFill>
            <a:srgbClr val="F3F8F0"/>
          </a:solidFill>
          <a:ln w="12700">
            <a:solidFill>
              <a:srgbClr val="D7E4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393192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Keputusan — </a:t>
            </a:r>
            <a:r>
              <a:rPr lang="en-US" sz="145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pusat mendapat laporan konsolidasi real-time.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0" y="4983480"/>
            <a:ext cx="5257800" cy="868680"/>
          </a:xfrm>
          <a:prstGeom prst="roundRect">
            <a:avLst>
              <a:gd name="adj" fmla="val 10526"/>
            </a:avLst>
          </a:prstGeom>
          <a:solidFill>
            <a:srgbClr val="F3F8F0"/>
          </a:solidFill>
          <a:ln w="12700">
            <a:solidFill>
              <a:srgbClr val="D7E4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498348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Akademik — </a:t>
            </a:r>
            <a:r>
              <a:rPr lang="en-US" sz="145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penerapan konsep kuliah pada kasus nyata.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94392" y="-1280160"/>
            <a:ext cx="3291840" cy="3291840"/>
          </a:xfrm>
          <a:prstGeom prst="ellipse">
            <a:avLst/>
          </a:prstGeom>
          <a:solidFill>
            <a:srgbClr val="7AA050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212080"/>
            <a:ext cx="2743200" cy="2743200"/>
          </a:xfrm>
          <a:prstGeom prst="ellipse">
            <a:avLst/>
          </a:prstGeom>
          <a:solidFill>
            <a:srgbClr val="7AA050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Landasan Teori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137392" y="3200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7AA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64008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Rancang Bangun Sistem Basis Data Terdistribusi pada Apotek Multi-Cabang — Mikael M. K. Ravidion P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3611880" cy="2240280"/>
          </a:xfrm>
          <a:prstGeom prst="roundRect">
            <a:avLst>
              <a:gd name="adj" fmla="val 4082"/>
            </a:avLst>
          </a:prstGeom>
          <a:solidFill>
            <a:srgbClr val="E9F2E1"/>
          </a:solidFill>
          <a:ln w="12700">
            <a:solidFill>
              <a:srgbClr val="D7E4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52704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Basis Data Terdistribusi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Kumpulan basis data yang tersebar fisik namun terhubung logis dalam jaringan (Özsu &amp; Valduriez, 2020).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97680" y="1325880"/>
            <a:ext cx="3611880" cy="2240280"/>
          </a:xfrm>
          <a:prstGeom prst="roundRect">
            <a:avLst>
              <a:gd name="adj" fmla="val 4082"/>
            </a:avLst>
          </a:prstGeom>
          <a:solidFill>
            <a:srgbClr val="E9F2E1"/>
          </a:solidFill>
          <a:ln w="12700">
            <a:solidFill>
              <a:srgbClr val="D7E4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52704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Fragmentasi Horizontal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572000" y="210312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Relasi dipecah per subset BARIS — di sini berdasarkan kode_cabang (Elmasri &amp; Navathe, 2016).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92440" y="1325880"/>
            <a:ext cx="3611880" cy="2240280"/>
          </a:xfrm>
          <a:prstGeom prst="roundRect">
            <a:avLst>
              <a:gd name="adj" fmla="val 4082"/>
            </a:avLst>
          </a:prstGeom>
          <a:solidFill>
            <a:srgbClr val="E9F2E1"/>
          </a:solidFill>
          <a:ln w="12700">
            <a:solidFill>
              <a:srgbClr val="D7E4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152704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Replikasi Logis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366760" y="210312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publisher–subscriber PostgreSQL berbasis WAL, per-tabel, asinkron (PostgreSQL Docs, Ch. 31).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3749040"/>
            <a:ext cx="3611880" cy="2240280"/>
          </a:xfrm>
          <a:prstGeom prst="roundRect">
            <a:avLst>
              <a:gd name="adj" fmla="val 4082"/>
            </a:avLst>
          </a:prstGeom>
          <a:solidFill>
            <a:srgbClr val="F3F8F0"/>
          </a:solidFill>
          <a:ln w="12700">
            <a:solidFill>
              <a:srgbClr val="D7E4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95020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Query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77240" y="452628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postgres_fdw: kueri lintas server transparan-lokasi (PostgreSQL Docs, F.38).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297680" y="3749040"/>
            <a:ext cx="3611880" cy="2240280"/>
          </a:xfrm>
          <a:prstGeom prst="roundRect">
            <a:avLst>
              <a:gd name="adj" fmla="val 4082"/>
            </a:avLst>
          </a:prstGeom>
          <a:solidFill>
            <a:srgbClr val="F3F8F0"/>
          </a:solidFill>
          <a:ln w="12700">
            <a:solidFill>
              <a:srgbClr val="D7E4C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395020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Kendali Konkurensi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4572000" y="452628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... FOR UPDATE mengunci baris; transaksi ACID per node.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092440" y="3749040"/>
            <a:ext cx="3611880" cy="2240280"/>
          </a:xfrm>
          <a:prstGeom prst="roundRect">
            <a:avLst>
              <a:gd name="adj" fmla="val 4082"/>
            </a:avLst>
          </a:prstGeom>
          <a:solidFill>
            <a:srgbClr val="F3F8F0"/>
          </a:solidFill>
          <a:ln w="12700">
            <a:solidFill>
              <a:srgbClr val="D7E4C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66760" y="395020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Toleransi Gangguan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8366760" y="452628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Graceful degradation: kegagalan satu node tidak mematikan seluruh sistem.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94392" y="-1280160"/>
            <a:ext cx="3291840" cy="3291840"/>
          </a:xfrm>
          <a:prstGeom prst="ellipse">
            <a:avLst/>
          </a:prstGeom>
          <a:solidFill>
            <a:srgbClr val="7AA050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212080"/>
            <a:ext cx="2743200" cy="2743200"/>
          </a:xfrm>
          <a:prstGeom prst="ellipse">
            <a:avLst/>
          </a:prstGeom>
          <a:solidFill>
            <a:srgbClr val="7AA050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137392" y="3200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7AA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64008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Rancang Bangun Sistem Basis Data Terdistribusi pada Apotek Multi-Cabang — Mikael M. K. Ravidion P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3749040" cy="4206240"/>
          </a:xfrm>
          <a:prstGeom prst="roundRect">
            <a:avLst>
              <a:gd name="adj" fmla="val 2439"/>
            </a:avLst>
          </a:prstGeom>
          <a:solidFill>
            <a:srgbClr val="E9F2E1"/>
          </a:solidFill>
          <a:ln w="12700">
            <a:solidFill>
              <a:srgbClr val="D7E4C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783080"/>
            <a:ext cx="777240" cy="777240"/>
          </a:xfrm>
          <a:prstGeom prst="ellipse">
            <a:avLst/>
          </a:prstGeom>
          <a:solidFill>
            <a:srgbClr val="234D24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783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783080" y="18745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PERANCANGAN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2834640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Skema data &amp; ERD; alokasi fragmen vs replika; primary key komposit (kode_cabang, penjualan_id) untuk keunikan ID global tanpa koordinasi antar node.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206240" y="310896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AA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480560" y="1463040"/>
            <a:ext cx="3749040" cy="4206240"/>
          </a:xfrm>
          <a:prstGeom prst="roundRect">
            <a:avLst>
              <a:gd name="adj" fmla="val 2439"/>
            </a:avLst>
          </a:prstGeom>
          <a:solidFill>
            <a:srgbClr val="E9F2E1"/>
          </a:solidFill>
          <a:ln w="12700">
            <a:solidFill>
              <a:srgbClr val="D7E4C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00600" y="1783080"/>
            <a:ext cx="777240" cy="777240"/>
          </a:xfrm>
          <a:prstGeom prst="ellipse">
            <a:avLst/>
          </a:prstGeom>
          <a:solidFill>
            <a:srgbClr val="234D24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1783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760720" y="18745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IMPLEMENTASI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00600" y="2834640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16 — 3 container Docker Compose (pusat :5432, cabang :5433/:5434); fungsi transaksi PL/pgSQL; dashboard web Node.js + Express.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183880" y="310896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AA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8458200" y="1463040"/>
            <a:ext cx="3749040" cy="4206240"/>
          </a:xfrm>
          <a:prstGeom prst="roundRect">
            <a:avLst>
              <a:gd name="adj" fmla="val 2439"/>
            </a:avLst>
          </a:prstGeom>
          <a:solidFill>
            <a:srgbClr val="FBEEE0"/>
          </a:solidFill>
          <a:ln w="12700">
            <a:solidFill>
              <a:srgbClr val="E8D5B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78240" y="1783080"/>
            <a:ext cx="777240" cy="777240"/>
          </a:xfrm>
          <a:prstGeom prst="ellipse">
            <a:avLst/>
          </a:prstGeom>
          <a:solidFill>
            <a:srgbClr val="C47C1A"/>
          </a:solidFill>
          <a:ln/>
        </p:spPr>
      </p:sp>
      <p:sp>
        <p:nvSpPr>
          <p:cNvPr id="21" name="Text 19"/>
          <p:cNvSpPr/>
          <p:nvPr/>
        </p:nvSpPr>
        <p:spPr>
          <a:xfrm>
            <a:off x="8778240" y="1783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738360" y="18745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7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PENGUJIAN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778240" y="2834640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skenario fungsional: replikasi, fragmentasi, distributed query, integritas, konkurensi, dan simulasi gangguan node.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94392" y="-1280160"/>
            <a:ext cx="3291840" cy="3291840"/>
          </a:xfrm>
          <a:prstGeom prst="ellipse">
            <a:avLst/>
          </a:prstGeom>
          <a:solidFill>
            <a:srgbClr val="7AA050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212080"/>
            <a:ext cx="2743200" cy="2743200"/>
          </a:xfrm>
          <a:prstGeom prst="ellipse">
            <a:avLst/>
          </a:prstGeom>
          <a:solidFill>
            <a:srgbClr val="7AA050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Arsitektur Sistem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137392" y="3200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7AA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64008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Rancang Bangun Sistem Basis Data Terdistribusi pada Apotek Multi-Cabang — Mikael M. K. Ravidion P</a:t>
            </a:r>
            <a:endParaRPr lang="en-US" sz="1050" dirty="0"/>
          </a:p>
        </p:txBody>
      </p:sp>
      <p:pic>
        <p:nvPicPr>
          <p:cNvPr id="7" name="Image 0" descr="/tmp/diagram_v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1143000"/>
            <a:ext cx="726948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94392" y="-1280160"/>
            <a:ext cx="3291840" cy="3291840"/>
          </a:xfrm>
          <a:prstGeom prst="ellipse">
            <a:avLst/>
          </a:prstGeom>
          <a:solidFill>
            <a:srgbClr val="7AA050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212080"/>
            <a:ext cx="2743200" cy="2743200"/>
          </a:xfrm>
          <a:prstGeom prst="ellipse">
            <a:avLst/>
          </a:prstGeom>
          <a:solidFill>
            <a:srgbClr val="7AA050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Perancangan Data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137392" y="3200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7AA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64008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Rancang Bangun Sistem Basis Data Terdistribusi pada Apotek Multi-Cabang — Mikael M. K. Ravidion P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E9F2E1"/>
          </a:solidFill>
          <a:ln w="12700">
            <a:solidFill>
              <a:srgbClr val="D7E4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630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DIREPLIKASI  (pusat → semua cabang)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22960" y="192024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produk, cabang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PUBLICATION pub_master (pusat) → CREATE SUBSCRIPTION (tiap cabang). Master hanya diubah di pusat.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79476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FBEEE0"/>
          </a:solidFill>
          <a:ln w="12700">
            <a:solidFill>
              <a:srgbClr val="E8D5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9776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47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DIFRAGMENTASI HORIZONTAL  (lokal per cabang)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22960" y="443484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stok, penjualan, penjualan_detail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 komposit (kode_cabang, penjualan_id) → ID unik global. Tiap cabang hanya menyimpan barisnya sendiri.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63640" y="1280160"/>
            <a:ext cx="5440680" cy="4800600"/>
          </a:xfrm>
          <a:prstGeom prst="roundRect">
            <a:avLst>
              <a:gd name="adj" fmla="val 1905"/>
            </a:avLst>
          </a:prstGeom>
          <a:solidFill>
            <a:srgbClr val="F3F8F0"/>
          </a:solidFill>
          <a:ln w="12700">
            <a:solidFill>
              <a:srgbClr val="D7E4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4630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TRANSAKSI &amp; VIEW GLOBAL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583680" y="1965960"/>
            <a:ext cx="4800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catat_penjualan(kasir, items)</a:t>
            </a:r>
            <a:endParaRPr lang="en-US" sz="1300" dirty="0"/>
          </a:p>
          <a:p>
            <a:pPr marL="0" indent="0">
              <a:lnSpc>
                <a:spcPct val="110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Atomik: kunci stok (FOR UPDATE) → potong stok → catat detail → hitung total. Gagal satu langkah = rollback semua.</a:t>
            </a:r>
            <a:endParaRPr lang="en-US" sz="1300" dirty="0"/>
          </a:p>
          <a:p>
            <a:pPr marL="0" indent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penjualan_global, stok_global</a:t>
            </a:r>
            <a:endParaRPr lang="en-US" sz="1300" dirty="0"/>
          </a:p>
          <a:p>
            <a:pPr marL="0" indent="0">
              <a:lnSpc>
                <a:spcPct val="110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UNION ALL fragmen cabang via foreign table — aplikasi pusat cukup SELECT dari view, tanpa tahu lokasi fisik data.</a:t>
            </a:r>
            <a:endParaRPr lang="en-US" sz="1300" dirty="0"/>
          </a:p>
          <a:p>
            <a:pPr marL="0" indent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laporan_omzet_cabang, laporan_produk_terlaris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Agregasi lintas node dalam satu kueri dari pusat.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94392" y="-1280160"/>
            <a:ext cx="3291840" cy="3291840"/>
          </a:xfrm>
          <a:prstGeom prst="ellipse">
            <a:avLst/>
          </a:prstGeom>
          <a:solidFill>
            <a:srgbClr val="7AA050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212080"/>
            <a:ext cx="2743200" cy="2743200"/>
          </a:xfrm>
          <a:prstGeom prst="ellipse">
            <a:avLst/>
          </a:prstGeom>
          <a:solidFill>
            <a:srgbClr val="7AA050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Implementasi — Dashboard Interaktif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137392" y="3200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7AA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64008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Rancang Bangun Sistem Basis Data Terdistribusi pada Apotek Multi-Cabang — Mikael M. K. Ravidion P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5532120" cy="1188720"/>
          </a:xfrm>
          <a:prstGeom prst="roundRect">
            <a:avLst>
              <a:gd name="adj" fmla="val 7692"/>
            </a:avLst>
          </a:prstGeom>
          <a:solidFill>
            <a:srgbClr val="F3F8F0"/>
          </a:solidFill>
          <a:ln w="12700">
            <a:solidFill>
              <a:srgbClr val="D7E4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32588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Arsitektur &amp; Status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topologi 3 node live + latensi koneksi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325880"/>
            <a:ext cx="5532120" cy="1188720"/>
          </a:xfrm>
          <a:prstGeom prst="roundRect">
            <a:avLst>
              <a:gd name="adj" fmla="val 7692"/>
            </a:avLst>
          </a:prstGeom>
          <a:solidFill>
            <a:srgbClr val="F3F8F0"/>
          </a:solidFill>
          <a:ln w="12700">
            <a:solidFill>
              <a:srgbClr val="D7E4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32588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Replikasi Master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tambah produk di pusat → merambat ke cabang (terukur detik)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02920" y="2697480"/>
            <a:ext cx="5532120" cy="1188720"/>
          </a:xfrm>
          <a:prstGeom prst="roundRect">
            <a:avLst>
              <a:gd name="adj" fmla="val 7692"/>
            </a:avLst>
          </a:prstGeom>
          <a:solidFill>
            <a:srgbClr val="F3F8F0"/>
          </a:solidFill>
          <a:ln w="12700">
            <a:solidFill>
              <a:srgbClr val="D7E4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69748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Fragmentasi &amp; Barang Masuk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stok/penjualan per cabang; produk baru stok 0 diisi lokal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63640" y="2697480"/>
            <a:ext cx="5532120" cy="1188720"/>
          </a:xfrm>
          <a:prstGeom prst="roundRect">
            <a:avLst>
              <a:gd name="adj" fmla="val 7692"/>
            </a:avLst>
          </a:prstGeom>
          <a:solidFill>
            <a:srgbClr val="F3F8F0"/>
          </a:solidFill>
          <a:ln w="12700">
            <a:solidFill>
              <a:srgbClr val="D7E4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69748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Distributed Query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laporan gabungan + skenario gangguan node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02920" y="4069080"/>
            <a:ext cx="5532120" cy="1188720"/>
          </a:xfrm>
          <a:prstGeom prst="roundRect">
            <a:avLst>
              <a:gd name="adj" fmla="val 7692"/>
            </a:avLst>
          </a:prstGeom>
          <a:solidFill>
            <a:srgbClr val="F3F8F0"/>
          </a:solidFill>
          <a:ln w="12700">
            <a:solidFill>
              <a:srgbClr val="D7E4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06908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Simulasi Kasir (POS)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transaksi atomik + uji stok berlebih (rollback)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63640" y="4069080"/>
            <a:ext cx="5532120" cy="1188720"/>
          </a:xfrm>
          <a:prstGeom prst="roundRect">
            <a:avLst>
              <a:gd name="adj" fmla="val 7692"/>
            </a:avLst>
          </a:prstGeom>
          <a:solidFill>
            <a:srgbClr val="F3F8F0"/>
          </a:solidFill>
          <a:ln w="12700">
            <a:solidFill>
              <a:srgbClr val="D7E4C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406908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Uji Konkurensi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kasir paralel berebut stok terbatas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02920" y="5623560"/>
            <a:ext cx="11201400" cy="685800"/>
          </a:xfrm>
          <a:prstGeom prst="roundRect">
            <a:avLst>
              <a:gd name="adj" fmla="val 12000"/>
            </a:avLst>
          </a:prstGeom>
          <a:solidFill>
            <a:srgbClr val="234D24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62356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Log realtime (Server-Sent Events)</a:t>
            </a:r>
            <a:r>
              <a:rPr lang="en-US" sz="1350" dirty="0">
                <a:solidFill>
                  <a:srgbClr val="E8F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setiap kueri asli ke tiap node tampil live: bukti semua aksi adalah operasi database sungguhan.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94392" y="-1280160"/>
            <a:ext cx="3291840" cy="3291840"/>
          </a:xfrm>
          <a:prstGeom prst="ellipse">
            <a:avLst/>
          </a:prstGeom>
          <a:solidFill>
            <a:srgbClr val="7AA050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212080"/>
            <a:ext cx="2743200" cy="2743200"/>
          </a:xfrm>
          <a:prstGeom prst="ellipse">
            <a:avLst/>
          </a:prstGeom>
          <a:solidFill>
            <a:srgbClr val="7AA050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Hasil Pengujian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137392" y="3200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7AA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64008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Rancang Bangun Sistem Basis Data Terdistribusi pada Apotek Multi-Cabang — Mikael M. K. Ravidion P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1380744"/>
            <a:ext cx="457200" cy="457200"/>
          </a:xfrm>
          <a:prstGeom prst="ellipse">
            <a:avLst/>
          </a:prstGeom>
          <a:solidFill>
            <a:srgbClr val="E9F2E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80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132588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Replikasi — </a:t>
            </a:r>
            <a:r>
              <a:rPr lang="en-US" sz="145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 baru muncul di kedua cabang &lt; 2 detik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2130552"/>
            <a:ext cx="457200" cy="457200"/>
          </a:xfrm>
          <a:prstGeom prst="ellipse">
            <a:avLst/>
          </a:prstGeom>
          <a:solidFill>
            <a:srgbClr val="E9F2E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2075688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Fragmentasi — </a:t>
            </a:r>
            <a:r>
              <a:rPr lang="en-US" sz="145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tiap cabang hanya berisi datanya sendiri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2880360"/>
            <a:ext cx="457200" cy="457200"/>
          </a:xfrm>
          <a:prstGeom prst="ellipse">
            <a:avLst/>
          </a:prstGeom>
          <a:solidFill>
            <a:srgbClr val="E9F2E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2825496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query — </a:t>
            </a:r>
            <a:r>
              <a:rPr lang="en-US" sz="145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laporan gabungan 2 cabang, satu kueri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3630168"/>
            <a:ext cx="457200" cy="457200"/>
          </a:xfrm>
          <a:prstGeom prst="ellipse">
            <a:avLst/>
          </a:prstGeom>
          <a:solidFill>
            <a:srgbClr val="E9F2E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630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3575304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Integritas — </a:t>
            </a:r>
            <a:r>
              <a:rPr lang="en-US" sz="145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jual melebihi stok → ditolak &amp; rollback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40080" y="4379976"/>
            <a:ext cx="457200" cy="457200"/>
          </a:xfrm>
          <a:prstGeom prst="ellipse">
            <a:avLst/>
          </a:prstGeom>
          <a:solidFill>
            <a:srgbClr val="E9F2E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379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0160" y="4325112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Konkurensi — </a:t>
            </a:r>
            <a:r>
              <a:rPr lang="en-US" sz="145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stok 10, 2×7 paralel → tepat satu berhasil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40080" y="5129784"/>
            <a:ext cx="457200" cy="457200"/>
          </a:xfrm>
          <a:prstGeom prst="ellipse">
            <a:avLst/>
          </a:prstGeom>
          <a:solidFill>
            <a:srgbClr val="E9F2E1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129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80160" y="507492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Toleransi gangguan — </a:t>
            </a:r>
            <a:r>
              <a:rPr lang="en-US" sz="145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mati → laporan tahan-gangguan &amp; kasir lain tetap jalan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7863840" y="1371600"/>
            <a:ext cx="37947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31750">
            <a:solidFill>
              <a:srgbClr val="234D24"/>
            </a:solidFill>
            <a:prstDash val="solid"/>
          </a:ln>
          <a:effectLst>
            <a:outerShdw blurRad="76200" dist="25400" dir="5400000" algn="bl" rotWithShape="0">
              <a:srgbClr val="3A4A3A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863840" y="1444752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2 dtk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7863840" y="224028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replikasi master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863840" y="2971800"/>
            <a:ext cx="37947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31750">
            <a:solidFill>
              <a:srgbClr val="234D24"/>
            </a:solidFill>
            <a:prstDash val="solid"/>
          </a:ln>
          <a:effectLst>
            <a:outerShdw blurRad="76200" dist="25400" dir="5400000" algn="bl" rotWithShape="0">
              <a:srgbClr val="3A4A3A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863840" y="3044952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19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7863840" y="384048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skenario lulus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863840" y="4572000"/>
            <a:ext cx="37947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31750">
            <a:solidFill>
              <a:srgbClr val="C47C1A"/>
            </a:solidFill>
            <a:prstDash val="solid"/>
          </a:ln>
          <a:effectLst>
            <a:outerShdw blurRad="76200" dist="25400" dir="5400000" algn="bl" rotWithShape="0">
              <a:srgbClr val="3A4A3A">
                <a:alpha val="1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863840" y="4645152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47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7863840" y="544068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overselling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94392" y="-1280160"/>
            <a:ext cx="3291840" cy="3291840"/>
          </a:xfrm>
          <a:prstGeom prst="ellipse">
            <a:avLst/>
          </a:prstGeom>
          <a:solidFill>
            <a:srgbClr val="7AA050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212080"/>
            <a:ext cx="2743200" cy="2743200"/>
          </a:xfrm>
          <a:prstGeom prst="ellipse">
            <a:avLst/>
          </a:prstGeom>
          <a:solidFill>
            <a:srgbClr val="7AA050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Diskusi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137392" y="3200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7AA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64008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Rancang Bangun Sistem Basis Data Terdistribusi pada Apotek Multi-Cabang — Mikael M. K. Ravidion P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5532120" cy="2194560"/>
          </a:xfrm>
          <a:prstGeom prst="roundRect">
            <a:avLst>
              <a:gd name="adj" fmla="val 4167"/>
            </a:avLst>
          </a:prstGeom>
          <a:solidFill>
            <a:srgbClr val="E9F2E1"/>
          </a:solidFill>
          <a:ln w="12700">
            <a:solidFill>
              <a:srgbClr val="D7E4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5270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Eventual consistency memadai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22960" y="205740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Replikasi asinkron berjeda &lt; 2 detik — dapat diterima untuk data master yang jarang berubah; sinkron akan membuat pusat menunggu semua cabang.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325880"/>
            <a:ext cx="5532120" cy="2194560"/>
          </a:xfrm>
          <a:prstGeom prst="roundRect">
            <a:avLst>
              <a:gd name="adj" fmla="val 4167"/>
            </a:avLst>
          </a:prstGeom>
          <a:solidFill>
            <a:srgbClr val="E9F2E1"/>
          </a:solidFill>
          <a:ln w="12700">
            <a:solidFill>
              <a:srgbClr val="D7E4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5270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Otonomi cabang = availability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583680" y="205740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Kasir bekerja 100% pada data lokal; putusnya koneksi ke pusat tidak menghentikan pelayanan pelanggan.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703320"/>
            <a:ext cx="5532120" cy="2194560"/>
          </a:xfrm>
          <a:prstGeom prst="roundRect">
            <a:avLst>
              <a:gd name="adj" fmla="val 4167"/>
            </a:avLst>
          </a:prstGeom>
          <a:solidFill>
            <a:srgbClr val="F3F8F0"/>
          </a:solidFill>
          <a:ln w="12700">
            <a:solidFill>
              <a:srgbClr val="D7E4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90448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Kelemahan yang dimitigasi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22960" y="443484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global (UNION ALL) menuntut semua node hidup → solusi: kueri per-fragmen dengan penanganan galat per node (graceful degradation).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3703320"/>
            <a:ext cx="5532120" cy="2194560"/>
          </a:xfrm>
          <a:prstGeom prst="roundRect">
            <a:avLst>
              <a:gd name="adj" fmla="val 4167"/>
            </a:avLst>
          </a:prstGeom>
          <a:solidFill>
            <a:srgbClr val="F3F8F0"/>
          </a:solidFill>
          <a:ln w="12700">
            <a:solidFill>
              <a:srgbClr val="D7E4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390448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Tanpa 2PC secara desain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583680" y="443484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ada transaksi yang menulis ke dua node sekaligus; PREPARE TRANSACTION tersedia bila kelak perlu transfer stok antar cabang.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34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389120" cy="4389120"/>
          </a:xfrm>
          <a:prstGeom prst="ellipse">
            <a:avLst/>
          </a:prstGeom>
          <a:solidFill>
            <a:srgbClr val="7AA050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572000"/>
            <a:ext cx="3840480" cy="3840480"/>
          </a:xfrm>
          <a:prstGeom prst="ellipse">
            <a:avLst/>
          </a:prstGeom>
          <a:solidFill>
            <a:srgbClr val="7AA050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5486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KESIMPULAN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1600200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2E5A2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60020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Otonom per cabang — </a:t>
            </a:r>
            <a:r>
              <a:rPr lang="en-US" sz="1450" dirty="0">
                <a:solidFill>
                  <a:srgbClr val="D8E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kasir tetap melayani walau pusat/cabang lain mati.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355080" y="1600200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2E5A2F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0" y="160020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Konsisten — </a:t>
            </a:r>
            <a:r>
              <a:rPr lang="en-US" sz="1450" dirty="0">
                <a:solidFill>
                  <a:srgbClr val="D8E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replikasi master &lt; 2 detik (eventual consistency).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85800" y="3017520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2E5A2F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01752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Transparan-lokasi — </a:t>
            </a:r>
            <a:r>
              <a:rPr lang="en-US" sz="1450" dirty="0">
                <a:solidFill>
                  <a:srgbClr val="D8E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laporan konsolidasi satu kueri via postgres_fdw.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355080" y="3017520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2E5A2F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301752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Bebas overselling — </a:t>
            </a:r>
            <a:r>
              <a:rPr lang="en-US" sz="1450" dirty="0">
                <a:solidFill>
                  <a:srgbClr val="D8E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UPDATE menjamin tepat satu transaksi menang.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85800" y="4434840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2E5A2F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43484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Menurun anggun — </a:t>
            </a:r>
            <a:r>
              <a:rPr lang="en-US" sz="1450" dirty="0">
                <a:solidFill>
                  <a:srgbClr val="D8E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kegagalan node tidak mematikan seluruh sistem.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355080" y="4434840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2E5A2F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0" y="443484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Sederhana — </a:t>
            </a:r>
            <a:r>
              <a:rPr lang="en-US" sz="1450" dirty="0">
                <a:solidFill>
                  <a:srgbClr val="D8E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standar + Docker, tanpa middleware.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85800" y="60350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9D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Fragmentasi horizontal + replikasi logis + distributed query terbukti bekerja terpadu pada studi kasus apotek multi-cabang.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94392" y="-1280160"/>
            <a:ext cx="3291840" cy="3291840"/>
          </a:xfrm>
          <a:prstGeom prst="ellipse">
            <a:avLst/>
          </a:prstGeom>
          <a:solidFill>
            <a:srgbClr val="7AA050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212080"/>
            <a:ext cx="2743200" cy="2743200"/>
          </a:xfrm>
          <a:prstGeom prst="ellipse">
            <a:avLst/>
          </a:prstGeom>
          <a:solidFill>
            <a:srgbClr val="7AA050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Penelitian Terdahulu &amp; Kontribusi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137392" y="3200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7AA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64008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Rancang Bangun Sistem Basis Data Terdistribusi pada Apotek Multi-Cabang — Mikael M. K. Ravidion P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5486400" cy="4114800"/>
          </a:xfrm>
          <a:prstGeom prst="roundRect">
            <a:avLst>
              <a:gd name="adj" fmla="val 2222"/>
            </a:avLst>
          </a:prstGeom>
          <a:solidFill>
            <a:srgbClr val="F3F8F0"/>
          </a:solidFill>
          <a:ln w="12700">
            <a:solidFill>
              <a:srgbClr val="D7E4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5087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Pramadhitya dkk. (2016) — J. MERPATI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19659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Apotek multi-cabang: fragmentasi horizontal + replikasi (MySQL master–slave). Berhenti di perancangan &amp; CRUD.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32004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Wahyu (2024) — Pros. SEMINASTIKA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36576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E-library multi-kampus: replikasi sinkron; fokus pengujian usability (SUS 83,7; UAT 86%).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63640" y="1280160"/>
            <a:ext cx="5440680" cy="4114800"/>
          </a:xfrm>
          <a:prstGeom prst="roundRect">
            <a:avLst>
              <a:gd name="adj" fmla="val 2222"/>
            </a:avLst>
          </a:prstGeom>
          <a:solidFill>
            <a:srgbClr val="234D24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1508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KONTRIBUSI PROYEK INI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583680" y="2103120"/>
            <a:ext cx="4892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450" dirty="0">
                <a:solidFill>
                  <a:srgbClr val="E8F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query lintas node (postgres_fdw) untuk laporan konsolidasi.</a:t>
            </a:r>
            <a:endParaRPr lang="en-US" sz="145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450" dirty="0">
                <a:solidFill>
                  <a:srgbClr val="E8F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Uji konkurensi 2 transaksi paralel (FOR UPDATE).</a:t>
            </a:r>
            <a:endParaRPr lang="en-US" sz="145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450" dirty="0">
                <a:solidFill>
                  <a:srgbClr val="E8F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Uji toleransi gangguan node + graceful degradation.</a:t>
            </a:r>
            <a:endParaRPr lang="en-US" sz="1450" dirty="0"/>
          </a:p>
          <a:p>
            <a:pPr marL="152400" indent="-152400">
              <a:lnSpc>
                <a:spcPct val="112000"/>
              </a:lnSpc>
              <a:buSzPct val="100000"/>
              <a:buChar char="▸"/>
            </a:pPr>
            <a:r>
              <a:rPr lang="en-US" sz="1450" dirty="0">
                <a:solidFill>
                  <a:srgbClr val="E8F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Containerization Docker + dashboard web interaktif dengan SQL log realtime.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94392" y="-1280160"/>
            <a:ext cx="3291840" cy="3291840"/>
          </a:xfrm>
          <a:prstGeom prst="ellipse">
            <a:avLst/>
          </a:prstGeom>
          <a:solidFill>
            <a:srgbClr val="7AA050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212080"/>
            <a:ext cx="2743200" cy="2743200"/>
          </a:xfrm>
          <a:prstGeom prst="ellipse">
            <a:avLst/>
          </a:prstGeom>
          <a:solidFill>
            <a:srgbClr val="7AA050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Referensi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137392" y="3200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7AA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64008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Rancang Bangun Sistem Basis Data Terdistribusi pada Apotek Multi-Cabang — Mikael M. K. Ravidion P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10972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Özsu, M. T., &amp; Valduriez, P. (2020). Principles of Distributed Database Systems (4th ed.). Springer. https://doi.org/10.1007/978-3-030-26253-2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Elmasri, R., &amp; Navathe, S. B. (2016). Fundamentals of Database Systems (7th ed.). Pearson. ISBN 978-0-13-397077-7.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Pramadhitya, I P. M., Purnawan, I K. A., &amp; Rusjayanthi, N. K. D. (2016). Rancang bangun sistem terdistribusi pada apotek. Jurnal MERPATI, 4(1), 12–21. ISSN 2252-3006.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Wahyu, S. (2024). Perancangan dan implementasi konsep replikasi data berbasis sistem basis data terdistribusi pada aplikasi e-library. Prosiding SEMINASTIKA, 5(1), 148–159. https://doi.org/10.47002/seminastika.v5i1.842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PostgreSQL Global Development Group. (2023). Chapter 31: Logical Replication. PostgreSQL 16 Documentation.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PostgreSQL Global Development Group. (2023). F.38: postgres_fdw. PostgreSQL 16 Documentation.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5760720"/>
            <a:ext cx="11201400" cy="640080"/>
          </a:xfrm>
          <a:prstGeom prst="roundRect">
            <a:avLst>
              <a:gd name="adj" fmla="val 12857"/>
            </a:avLst>
          </a:prstGeom>
          <a:solidFill>
            <a:srgbClr val="E9F2E1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5760720"/>
            <a:ext cx="11201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Terima kasih — sesi tanya jawab dipersilakan.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1575</Words>
  <Application>Microsoft Office PowerPoint</Application>
  <PresentationFormat>Widescreen</PresentationFormat>
  <Paragraphs>182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Mikael Marcellino</cp:lastModifiedBy>
  <cp:revision>2</cp:revision>
  <dcterms:created xsi:type="dcterms:W3CDTF">2026-07-11T08:43:10Z</dcterms:created>
  <dcterms:modified xsi:type="dcterms:W3CDTF">2026-07-18T01:53:59Z</dcterms:modified>
</cp:coreProperties>
</file>